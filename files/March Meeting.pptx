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sldIdLst>
    <p:sldId id="263" r:id="rId2"/>
  </p:sldIdLst>
  <p:sldSz cx="43891200" cy="32918400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Domine" panose="02040503040403060204" pitchFamily="18" charset="0"/>
      <p:regular r:id="rId5"/>
    </p:embeddedFont>
    <p:embeddedFont>
      <p:font typeface="Montserrat Extra Bold" pitchFamily="2" charset="77"/>
      <p:bold r:id="rId6"/>
    </p:embeddedFont>
  </p:embeddedFontLst>
  <p:custDataLst>
    <p:tags r:id="rId7"/>
  </p:custDataLst>
  <p:defaultTextStyle>
    <a:defPPr>
      <a:defRPr lang="en-US"/>
    </a:defPPr>
    <a:lvl1pPr marL="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  <p15:guide id="3" orient="horz" pos="10368" userDrawn="1">
          <p15:clr>
            <a:srgbClr val="A4A3A4"/>
          </p15:clr>
        </p15:guide>
        <p15:guide id="4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FE9"/>
    <a:srgbClr val="B7CCD3"/>
    <a:srgbClr val="B4CBD3"/>
    <a:srgbClr val="A5CDCD"/>
    <a:srgbClr val="E3E3E3"/>
    <a:srgbClr val="C5DFE8"/>
    <a:srgbClr val="595959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5" autoAdjust="0"/>
    <p:restoredTop sz="93519" autoAdjust="0"/>
  </p:normalViewPr>
  <p:slideViewPr>
    <p:cSldViewPr snapToGrid="0">
      <p:cViewPr>
        <p:scale>
          <a:sx n="23" d="100"/>
          <a:sy n="23" d="100"/>
        </p:scale>
        <p:origin x="2112" y="488"/>
      </p:cViewPr>
      <p:guideLst>
        <p:guide orient="horz" pos="6912"/>
        <p:guide pos="10368"/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2/26/24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9676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462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4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4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6953250" y="33426400"/>
            <a:ext cx="29984700" cy="14605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5325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600">
                <a:solidFill>
                  <a:srgbClr val="808080"/>
                </a:solidFill>
              </a:rPr>
              <a:t>Template ID: assessingslate  Size: 48x36</a:t>
            </a:r>
          </a:p>
        </p:txBody>
      </p:sp>
    </p:spTree>
    <p:extLst>
      <p:ext uri="{BB962C8B-B14F-4D97-AF65-F5344CB8AC3E}">
        <p14:creationId xmlns:p14="http://schemas.microsoft.com/office/powerpoint/2010/main" val="205434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ransition/>
  <p:txStyles>
    <p:titleStyle>
      <a:defPPr>
        <a:defRPr kern="1200"/>
      </a:defPPr>
      <a:lvl1pPr algn="ctr" defTabSz="4389028" rtl="0" eaLnBrk="1" latinLnBrk="0" hangingPunct="1">
        <a:spcBef>
          <a:spcPct val="0"/>
        </a:spcBef>
        <a:buNone/>
        <a:defRPr sz="1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0" indent="0" algn="l" defTabSz="4389028" rtl="0" eaLnBrk="1" latinLnBrk="0" hangingPunct="1">
        <a:spcBef>
          <a:spcPct val="20000"/>
        </a:spcBef>
        <a:buFont typeface="Arial" pitchFamily="34" charset="0"/>
        <a:buNone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4389028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4389028" rtl="0" eaLnBrk="1" latinLnBrk="0" hangingPunct="1">
        <a:spcBef>
          <a:spcPct val="20000"/>
        </a:spcBef>
        <a:buFont typeface="Arial" pitchFamily="34" charset="0"/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4389028" rtl="0" eaLnBrk="1" latinLnBrk="0" hangingPunct="1">
        <a:spcBef>
          <a:spcPct val="20000"/>
        </a:spcBef>
        <a:buFont typeface="Arial" pitchFamily="34" charset="0"/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7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1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emf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emf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png"/><Relationship Id="rId5" Type="http://schemas.openxmlformats.org/officeDocument/2006/relationships/hyperlink" Target="http://doi.org/10.1038/" TargetMode="External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70">
            <a:extLst>
              <a:ext uri="{FF2B5EF4-FFF2-40B4-BE49-F238E27FC236}">
                <a16:creationId xmlns:a16="http://schemas.microsoft.com/office/drawing/2014/main" id="{A34D59F3-734D-D6CD-72BE-FFF461BE4F07}"/>
              </a:ext>
            </a:extLst>
          </p:cNvPr>
          <p:cNvSpPr/>
          <p:nvPr/>
        </p:nvSpPr>
        <p:spPr>
          <a:xfrm>
            <a:off x="30466012" y="6754156"/>
            <a:ext cx="12848406" cy="10663093"/>
          </a:xfrm>
          <a:prstGeom prst="roundRect">
            <a:avLst>
              <a:gd name="adj" fmla="val 1395"/>
            </a:avLst>
          </a:prstGeom>
          <a:solidFill>
            <a:srgbClr val="C5D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: Rounded Corners 42">
            <a:extLst>
              <a:ext uri="{FF2B5EF4-FFF2-40B4-BE49-F238E27FC236}">
                <a16:creationId xmlns:a16="http://schemas.microsoft.com/office/drawing/2014/main" id="{86FE26AB-E9AD-4726-EC51-88378285A183}"/>
              </a:ext>
            </a:extLst>
          </p:cNvPr>
          <p:cNvSpPr/>
          <p:nvPr/>
        </p:nvSpPr>
        <p:spPr>
          <a:xfrm>
            <a:off x="712116" y="10849128"/>
            <a:ext cx="12832433" cy="21182088"/>
          </a:xfrm>
          <a:prstGeom prst="roundRect">
            <a:avLst>
              <a:gd name="adj" fmla="val 961"/>
            </a:avLst>
          </a:prstGeom>
          <a:solidFill>
            <a:srgbClr val="C5DF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solidFill>
                <a:srgbClr val="B4CBD3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0" y="-7121"/>
            <a:ext cx="43891200" cy="62520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rtlCol="0" anchor="ctr"/>
          <a:lstStyle>
            <a:defPPr>
              <a:defRPr kern="1200"/>
            </a:defPPr>
          </a:lstStyle>
          <a:p>
            <a:pPr algn="ctr"/>
            <a:endParaRPr lang="en-US">
              <a:solidFill>
                <a:srgbClr val="B7CCD3"/>
              </a:solidFill>
            </a:endParaRPr>
          </a:p>
        </p:txBody>
      </p:sp>
      <p:sp>
        <p:nvSpPr>
          <p:cNvPr id="51" name="Title 11">
            <a:extLst>
              <a:ext uri="{FF2B5EF4-FFF2-40B4-BE49-F238E27FC236}">
                <a16:creationId xmlns:a16="http://schemas.microsoft.com/office/drawing/2014/main" id="{EE7A5C51-35F0-4B71-992D-43D344D16C04}"/>
              </a:ext>
            </a:extLst>
          </p:cNvPr>
          <p:cNvSpPr txBox="1"/>
          <p:nvPr/>
        </p:nvSpPr>
        <p:spPr>
          <a:xfrm>
            <a:off x="3458009" y="887184"/>
            <a:ext cx="37557963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8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Interplay of Higher-Order van Hove Singularities and Band Topology in Kagome Systems</a:t>
            </a:r>
            <a:endParaRPr lang="en-US" sz="8500" b="0" dirty="0">
              <a:effectLst/>
            </a:endParaRPr>
          </a:p>
          <a:p>
            <a:br>
              <a:rPr lang="en-US" sz="1600" dirty="0"/>
            </a:br>
            <a:endParaRPr lang="en-US" sz="8500" b="1" dirty="0">
              <a:solidFill>
                <a:schemeClr val="tx1">
                  <a:lumMod val="75000"/>
                  <a:lumOff val="25000"/>
                </a:schemeClr>
              </a:solidFill>
              <a:latin typeface="Montserrat Extra Bold" panose="00000900000000000000" pitchFamily="50" charset="0"/>
            </a:endParaRP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1F3AA395-C058-4F87-B3A3-A8A8BC543EF9}"/>
              </a:ext>
            </a:extLst>
          </p:cNvPr>
          <p:cNvSpPr txBox="1"/>
          <p:nvPr/>
        </p:nvSpPr>
        <p:spPr>
          <a:xfrm>
            <a:off x="4975067" y="3831574"/>
            <a:ext cx="34521924" cy="2025170"/>
          </a:xfrm>
          <a:prstGeom prst="rect">
            <a:avLst/>
          </a:prstGeom>
        </p:spPr>
        <p:txBody>
          <a:bodyPr wrap="square"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6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</a:rPr>
              <a:t>Edrick Wang, Lakshmi </a:t>
            </a:r>
            <a:r>
              <a:rPr lang="en-US" sz="5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</a:rPr>
              <a:t>Pullasseri</a:t>
            </a:r>
            <a:r>
              <a:rPr lang="en-US" sz="56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</a:rPr>
              <a:t>, Luiz Santos</a:t>
            </a:r>
          </a:p>
          <a:p>
            <a:pPr algn="ctr"/>
            <a:r>
              <a:rPr lang="en-US" sz="56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</a:rPr>
              <a:t>Department of Physics, Emory University, Atlanta, GA 30322</a:t>
            </a:r>
          </a:p>
        </p:txBody>
      </p:sp>
      <p:sp>
        <p:nvSpPr>
          <p:cNvPr id="43" name="Rectangle: Rounded Corners 42"/>
          <p:cNvSpPr/>
          <p:nvPr/>
        </p:nvSpPr>
        <p:spPr>
          <a:xfrm>
            <a:off x="712116" y="6752132"/>
            <a:ext cx="12832432" cy="3905313"/>
          </a:xfrm>
          <a:prstGeom prst="roundRect">
            <a:avLst>
              <a:gd name="adj" fmla="val 3682"/>
            </a:avLst>
          </a:prstGeom>
          <a:solidFill>
            <a:srgbClr val="C5DF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solidFill>
                <a:srgbClr val="B4CBD3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B2E49A-CE7A-4210-AE9F-5037030C938E}"/>
              </a:ext>
            </a:extLst>
          </p:cNvPr>
          <p:cNvSpPr txBox="1"/>
          <p:nvPr/>
        </p:nvSpPr>
        <p:spPr>
          <a:xfrm>
            <a:off x="1147779" y="6943815"/>
            <a:ext cx="9360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Motivation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320F11-3F85-4920-92E0-15D89C7AF4D2}"/>
              </a:ext>
            </a:extLst>
          </p:cNvPr>
          <p:cNvSpPr txBox="1"/>
          <p:nvPr/>
        </p:nvSpPr>
        <p:spPr>
          <a:xfrm>
            <a:off x="1159293" y="8067116"/>
            <a:ext cx="11961983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 the past few decades, 2D materials have attracted much interest in the field of condensed matter field due to their exotic properties.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Kagome lattice (Fig. 1) is of particular interest because of its flat band, which enhances strongly-correlated electron-electron interactions, and its lattice geometry, which can spontaneously produce frustration among the electrons.</a:t>
            </a:r>
          </a:p>
        </p:txBody>
      </p:sp>
      <p:sp>
        <p:nvSpPr>
          <p:cNvPr id="5" name="Rectangle: Rounded Corners 70">
            <a:extLst>
              <a:ext uri="{FF2B5EF4-FFF2-40B4-BE49-F238E27FC236}">
                <a16:creationId xmlns:a16="http://schemas.microsoft.com/office/drawing/2014/main" id="{EF03C110-D571-7ECE-0CD5-8C217FAFE39F}"/>
              </a:ext>
            </a:extLst>
          </p:cNvPr>
          <p:cNvSpPr/>
          <p:nvPr/>
        </p:nvSpPr>
        <p:spPr>
          <a:xfrm>
            <a:off x="13752882" y="6727184"/>
            <a:ext cx="16482307" cy="3169545"/>
          </a:xfrm>
          <a:prstGeom prst="roundRect">
            <a:avLst>
              <a:gd name="adj" fmla="val 3948"/>
            </a:avLst>
          </a:prstGeom>
          <a:solidFill>
            <a:srgbClr val="C5D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Rectangle: Rounded Corners 42">
            <a:extLst>
              <a:ext uri="{FF2B5EF4-FFF2-40B4-BE49-F238E27FC236}">
                <a16:creationId xmlns:a16="http://schemas.microsoft.com/office/drawing/2014/main" id="{20A121CB-272B-7D73-E6B5-BC7DEDADF6D5}"/>
              </a:ext>
            </a:extLst>
          </p:cNvPr>
          <p:cNvSpPr/>
          <p:nvPr/>
        </p:nvSpPr>
        <p:spPr>
          <a:xfrm>
            <a:off x="13752882" y="10083052"/>
            <a:ext cx="16482307" cy="22000370"/>
          </a:xfrm>
          <a:prstGeom prst="roundRect">
            <a:avLst>
              <a:gd name="adj" fmla="val 724"/>
            </a:avLst>
          </a:prstGeom>
          <a:solidFill>
            <a:srgbClr val="C5D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6" name="Rectangle: Rounded Corners 42">
            <a:extLst>
              <a:ext uri="{FF2B5EF4-FFF2-40B4-BE49-F238E27FC236}">
                <a16:creationId xmlns:a16="http://schemas.microsoft.com/office/drawing/2014/main" id="{FFF88F1B-5225-DDB3-F208-0DC5ECE5D631}"/>
              </a:ext>
            </a:extLst>
          </p:cNvPr>
          <p:cNvSpPr/>
          <p:nvPr/>
        </p:nvSpPr>
        <p:spPr>
          <a:xfrm>
            <a:off x="30461748" y="17571254"/>
            <a:ext cx="12852670" cy="8790516"/>
          </a:xfrm>
          <a:prstGeom prst="roundRect">
            <a:avLst>
              <a:gd name="adj" fmla="val 2004"/>
            </a:avLst>
          </a:prstGeom>
          <a:solidFill>
            <a:srgbClr val="C5D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endParaRPr lang="en-PH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D297A1-60E7-0F19-276A-BBF07C322F63}"/>
              </a:ext>
            </a:extLst>
          </p:cNvPr>
          <p:cNvSpPr txBox="1"/>
          <p:nvPr/>
        </p:nvSpPr>
        <p:spPr>
          <a:xfrm>
            <a:off x="31026193" y="17661419"/>
            <a:ext cx="8237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Realizing the Model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B2BFBC-91DD-3592-907B-800EE0BB906E}"/>
              </a:ext>
            </a:extLst>
          </p:cNvPr>
          <p:cNvSpPr txBox="1"/>
          <p:nvPr/>
        </p:nvSpPr>
        <p:spPr>
          <a:xfrm>
            <a:off x="31019701" y="18724246"/>
            <a:ext cx="1129309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Kagome optical lattice has been realized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endParaRPr lang="en-US" sz="2400" baseline="30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Haldane model, which contains a complex NNN-hopping term in the Hamiltonian and has a similar hexagonal geometry as Kagome, has been realized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topology of the bands can be probed using differential drift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0" name="Rectangle: Rounded Corners 70">
            <a:extLst>
              <a:ext uri="{FF2B5EF4-FFF2-40B4-BE49-F238E27FC236}">
                <a16:creationId xmlns:a16="http://schemas.microsoft.com/office/drawing/2014/main" id="{70A42818-D31A-2967-615F-B565E6B9BC8F}"/>
              </a:ext>
            </a:extLst>
          </p:cNvPr>
          <p:cNvSpPr/>
          <p:nvPr/>
        </p:nvSpPr>
        <p:spPr>
          <a:xfrm>
            <a:off x="30461748" y="29536582"/>
            <a:ext cx="12856935" cy="2581741"/>
          </a:xfrm>
          <a:prstGeom prst="roundRect">
            <a:avLst>
              <a:gd name="adj" fmla="val 3948"/>
            </a:avLst>
          </a:prstGeom>
          <a:solidFill>
            <a:srgbClr val="C5DF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62A861-83BE-E6F2-BAAB-77A238277725}"/>
              </a:ext>
            </a:extLst>
          </p:cNvPr>
          <p:cNvSpPr txBox="1"/>
          <p:nvPr/>
        </p:nvSpPr>
        <p:spPr>
          <a:xfrm>
            <a:off x="32318773" y="25498923"/>
            <a:ext cx="9243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Fig 5. Optical lattice utilizes standing light waves to create potentials, as shown in the figure (figure taken from [2])</a:t>
            </a:r>
          </a:p>
        </p:txBody>
      </p:sp>
      <p:sp>
        <p:nvSpPr>
          <p:cNvPr id="54" name="Rectangle: Rounded Corners 70">
            <a:extLst>
              <a:ext uri="{FF2B5EF4-FFF2-40B4-BE49-F238E27FC236}">
                <a16:creationId xmlns:a16="http://schemas.microsoft.com/office/drawing/2014/main" id="{D4959FAB-63CF-93CC-C56F-4FE4DE8B2EB2}"/>
              </a:ext>
            </a:extLst>
          </p:cNvPr>
          <p:cNvSpPr/>
          <p:nvPr/>
        </p:nvSpPr>
        <p:spPr>
          <a:xfrm>
            <a:off x="30466012" y="26488505"/>
            <a:ext cx="12852671" cy="2849840"/>
          </a:xfrm>
          <a:prstGeom prst="roundRect">
            <a:avLst>
              <a:gd name="adj" fmla="val 3948"/>
            </a:avLst>
          </a:prstGeom>
          <a:solidFill>
            <a:srgbClr val="C5D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CB578B-4847-FD52-850E-11AB0257985A}"/>
              </a:ext>
            </a:extLst>
          </p:cNvPr>
          <p:cNvSpPr txBox="1"/>
          <p:nvPr/>
        </p:nvSpPr>
        <p:spPr>
          <a:xfrm>
            <a:off x="31026193" y="26488505"/>
            <a:ext cx="8237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Future Steps</a:t>
            </a:r>
          </a:p>
        </p:txBody>
      </p:sp>
      <p:pic>
        <p:nvPicPr>
          <p:cNvPr id="62" name="Picture 61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F7B08FDC-FE8D-4A22-99C1-6C700D4CF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33" y="1308145"/>
            <a:ext cx="5171789" cy="4432961"/>
          </a:xfrm>
          <a:prstGeom prst="rect">
            <a:avLst/>
          </a:prstGeom>
        </p:spPr>
      </p:pic>
      <p:sp>
        <p:nvSpPr>
          <p:cNvPr id="76" name="Rectangle: Rounded Corners 42">
            <a:extLst>
              <a:ext uri="{FF2B5EF4-FFF2-40B4-BE49-F238E27FC236}">
                <a16:creationId xmlns:a16="http://schemas.microsoft.com/office/drawing/2014/main" id="{46E2BA93-025A-589D-6A3C-E172FD91711E}"/>
              </a:ext>
            </a:extLst>
          </p:cNvPr>
          <p:cNvSpPr/>
          <p:nvPr/>
        </p:nvSpPr>
        <p:spPr>
          <a:xfrm>
            <a:off x="11612744" y="22226720"/>
            <a:ext cx="1315856" cy="1030200"/>
          </a:xfrm>
          <a:prstGeom prst="roundRect">
            <a:avLst>
              <a:gd name="adj" fmla="val 2004"/>
            </a:avLst>
          </a:prstGeom>
          <a:solidFill>
            <a:srgbClr val="C5DF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solidFill>
                <a:srgbClr val="B4CBD3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F5092-C86B-2688-073C-663703A1D5CC}"/>
              </a:ext>
            </a:extLst>
          </p:cNvPr>
          <p:cNvSpPr txBox="1"/>
          <p:nvPr/>
        </p:nvSpPr>
        <p:spPr>
          <a:xfrm>
            <a:off x="14188544" y="8037707"/>
            <a:ext cx="154770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just">
              <a:spcAft>
                <a:spcPts val="600"/>
              </a:spcAft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We wish to investigate the Kagome lattice using the tight binding model, considering Nearest-Neighbor and Next-Nearest-Neighbor hopping. We determine the parameters at which HOVHS emerge for the high-symmetry points in the 1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st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Brillouin Zone. We also find the regions in the parameter space where topologically non-trivial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Chern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bands emerge.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88BC13-89CE-9B5C-ECAB-A5D46B1C72E6}"/>
              </a:ext>
            </a:extLst>
          </p:cNvPr>
          <p:cNvSpPr txBox="1"/>
          <p:nvPr/>
        </p:nvSpPr>
        <p:spPr>
          <a:xfrm>
            <a:off x="14181227" y="6917965"/>
            <a:ext cx="120230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Specific Aim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72B39-5507-E5A6-2262-333714BE9B48}"/>
              </a:ext>
            </a:extLst>
          </p:cNvPr>
          <p:cNvSpPr txBox="1"/>
          <p:nvPr/>
        </p:nvSpPr>
        <p:spPr>
          <a:xfrm>
            <a:off x="825985" y="31107115"/>
            <a:ext cx="6043363" cy="400110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Fig 1. The Lattice model of the Kagome Lattice</a:t>
            </a:r>
            <a:endParaRPr lang="en-US" sz="2000" b="1" baseline="30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70D46E-E85D-84D0-61B6-D76CECEDDB54}"/>
              </a:ext>
            </a:extLst>
          </p:cNvPr>
          <p:cNvSpPr txBox="1"/>
          <p:nvPr/>
        </p:nvSpPr>
        <p:spPr>
          <a:xfrm>
            <a:off x="14256162" y="10296275"/>
            <a:ext cx="6372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4B0BD0-ADD2-5323-1F46-95A36A575CA1}"/>
                  </a:ext>
                </a:extLst>
              </p:cNvPr>
              <p:cNvSpPr txBox="1"/>
              <p:nvPr/>
            </p:nvSpPr>
            <p:spPr>
              <a:xfrm>
                <a:off x="14284977" y="11435641"/>
                <a:ext cx="15483164" cy="548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1200"/>
                </a:defPPr>
              </a:lstStyle>
              <a:p>
                <a:pPr algn="just">
                  <a:spcAft>
                    <a:spcPts val="600"/>
                  </a:spcAft>
                </a:pP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Domine" panose="02040503040403060204" pitchFamily="18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</a:t>
                </a: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.  Higher-order van Hove Singularities</a:t>
                </a:r>
              </a:p>
              <a:p>
                <a:pPr marL="571500" indent="-5715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(Ordinary) van Hove Singularities (VHS) are points on the energy bands where the density of states of the electrons diverge in a logarithmic relation.</a:t>
                </a:r>
              </a:p>
              <a:p>
                <a:pPr marL="571500" indent="-5715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In 2D materials, VHS corresponds to a saddle point on the energy band.</a:t>
                </a:r>
              </a:p>
              <a:p>
                <a:pPr marL="571500" indent="-5715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Higher-order VHS (HOVHS) give a power law divergence! This means HOVHS enhances even stronger electron-electron interaction.</a:t>
                </a:r>
              </a:p>
              <a:p>
                <a:pPr marL="571500" indent="-5715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In 2D materials, HOVHS correspond to a higher-order saddle point on the energy band, where its Hessian, defined as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ℍ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m:rPr>
                        <m:nor/>
                      </m:rPr>
                      <a:rPr 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det</m:t>
                    </m:r>
                    <m:r>
                      <m:rPr>
                        <m:nor/>
                      </m:rPr>
                      <a:rPr 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 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∂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ε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en-US" sz="24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en-US" sz="24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,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     vanishes to 0.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We want to find at what parameter values will give a Hessian value of 0 at a given point on the energy bands.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All high-symmetry points (i.e.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±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i=1,2,3)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are analyzed for the emergence of HOVHS.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4B0BD0-ADD2-5323-1F46-95A36A575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977" y="11435641"/>
                <a:ext cx="15483164" cy="5482655"/>
              </a:xfrm>
              <a:prstGeom prst="rect">
                <a:avLst/>
              </a:prstGeom>
              <a:blipFill>
                <a:blip r:embed="rId3"/>
                <a:stretch>
                  <a:fillRect l="-574" t="-926" r="-656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FC9067-34D7-3145-0D7D-C4268807C87A}"/>
                  </a:ext>
                </a:extLst>
              </p:cNvPr>
              <p:cNvSpPr txBox="1"/>
              <p:nvPr/>
            </p:nvSpPr>
            <p:spPr>
              <a:xfrm>
                <a:off x="15991514" y="30021189"/>
                <a:ext cx="120700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Fig 3. Phase diagrams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𝜙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parameter space for band 1, 2, and 3. the boundaries correspond to when HOVHS emerge at one of the three types of high-symmetry point.</a:t>
                </a: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FC9067-34D7-3145-0D7D-C4268807C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514" y="30021189"/>
                <a:ext cx="12070090" cy="707886"/>
              </a:xfrm>
              <a:prstGeom prst="rect">
                <a:avLst/>
              </a:prstGeom>
              <a:blipFill>
                <a:blip r:embed="rId4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827B829B-2B4B-4F64-468E-9E7910A6FF3E}"/>
              </a:ext>
            </a:extLst>
          </p:cNvPr>
          <p:cNvSpPr txBox="1"/>
          <p:nvPr/>
        </p:nvSpPr>
        <p:spPr>
          <a:xfrm>
            <a:off x="30960378" y="27504168"/>
            <a:ext cx="11293099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Consider other similar model Hamiltonians for Kagome lattices and determine the necessary conditions to host HOVHS.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Include interaction terms in the Hamiltonian and elucidate their effects on the current model.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5ADE30-8417-1EAE-02D9-477A8A1F5251}"/>
              </a:ext>
            </a:extLst>
          </p:cNvPr>
          <p:cNvSpPr txBox="1"/>
          <p:nvPr/>
        </p:nvSpPr>
        <p:spPr>
          <a:xfrm>
            <a:off x="30960378" y="29577604"/>
            <a:ext cx="8237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References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E3395B-6F4D-B0F0-3004-87681C1C8757}"/>
              </a:ext>
            </a:extLst>
          </p:cNvPr>
          <p:cNvSpPr txBox="1"/>
          <p:nvPr/>
        </p:nvSpPr>
        <p:spPr>
          <a:xfrm>
            <a:off x="31026193" y="30482984"/>
            <a:ext cx="112930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just">
              <a:spcAft>
                <a:spcPts val="600"/>
              </a:spcAft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[1] Klaus von Klitzing. The quantized Hall effect. https://link.aps.org/doi/10.1103/RevModPhys.58.519</a:t>
            </a:r>
          </a:p>
          <a:p>
            <a:pPr algn="just">
              <a:spcAft>
                <a:spcPts val="600"/>
              </a:spcAft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[2]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Gyu-Boong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Jo et al. Ultracold Atoms in a Tunable Optical Kagome Lattice. https://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link.aps.org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/10.1103/PhysRevLett.108.045305</a:t>
            </a:r>
          </a:p>
          <a:p>
            <a:pPr algn="just">
              <a:spcAft>
                <a:spcPts val="600"/>
              </a:spcAft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[3] Gregor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Jotzu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et al. Experimental realization of the topological Haldane model with ultracold fermions. http://doi.org/10.1038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hlinkClick r:id="rId5"/>
              </a:rPr>
              <a:t>/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nature13915</a:t>
            </a:r>
          </a:p>
          <a:p>
            <a:pPr algn="just">
              <a:spcAft>
                <a:spcPts val="600"/>
              </a:spcAft>
            </a:pPr>
            <a:r>
              <a:rPr lang="en-US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[4] Pedro Castro et al.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Emergence of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Chern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Supermetal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Pair-Density Wave through Higher-Order Van Hove Singularities in the Haldane-Hubbard Model. </a:t>
            </a:r>
            <a:r>
              <a:rPr lang="en-US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doi-org.proxy.library.emory.edu</a:t>
            </a:r>
            <a:r>
              <a:rPr lang="en-US" sz="14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/10.1103/PhysRevLett.131.026601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600"/>
              </a:spcAft>
            </a:pPr>
            <a:endParaRPr lang="en-US" sz="8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B1312-5199-B19C-44CE-62D2FE116C6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1" r="484" b="5840"/>
          <a:stretch/>
        </p:blipFill>
        <p:spPr>
          <a:xfrm>
            <a:off x="1114991" y="25244169"/>
            <a:ext cx="5398195" cy="5808849"/>
          </a:xfrm>
          <a:prstGeom prst="rect">
            <a:avLst/>
          </a:prstGeom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0CB2B-AC7C-27D8-5354-FC746C8BCAF5}"/>
              </a:ext>
            </a:extLst>
          </p:cNvPr>
          <p:cNvSpPr txBox="1"/>
          <p:nvPr/>
        </p:nvSpPr>
        <p:spPr>
          <a:xfrm>
            <a:off x="1140464" y="10952632"/>
            <a:ext cx="9360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9EEE12-F355-2A2D-4AEA-E4EBFC56417F}"/>
                  </a:ext>
                </a:extLst>
              </p:cNvPr>
              <p:cNvSpPr txBox="1"/>
              <p:nvPr/>
            </p:nvSpPr>
            <p:spPr>
              <a:xfrm>
                <a:off x="1147780" y="12076738"/>
                <a:ext cx="11985010" cy="12291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1200"/>
                </a:defPPr>
              </a:lstStyle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The tight binding model is a good approximation and can provide valuable insights to how the bulk material behaves.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In our model, we will consider a real Nearest-Neighbor (NN) Hopping term, and a complex Next-Nearest-Neighbor (NNN) Hopping term.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The hopping strength for NN- and NNN-hopping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±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𝜙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respectively. The sign for the complex phase depends on the direction of hopping (see Fig.1).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The real lattice vectors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1,</m:t>
                        </m:r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(1,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3</m:t>
                        </m:r>
                      </m:e>
                    </m:rad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𝑎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(1,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  <m:t>3</m:t>
                        </m:r>
                      </m:e>
                    </m:rad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, where a is the lattice constant and is set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a</m:t>
                    </m:r>
                    <m:r>
                      <a:rPr lang="en-US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. These vectors connect the unit cells, which consist of site a, b, and c. 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The Hamiltonian for NN-Hopping is 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𝑁𝑁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Similarly, the Hamiltonian for NNN-Hopping is 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𝑁𝑁𝑁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=−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lang="en-US" sz="240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𝜙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34" charset="0"/>
                                        <a:cs typeface="Open Sans" panose="020B0606030504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acc>
                                      <m:accPr>
                                        <m:chr m:val="⃗"/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Open Sans" panose="020B0606030504020204" pitchFamily="34" charset="0"/>
                                            <a:cs typeface="Open Sans" panose="020B0606030504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2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>
                                                    <a:lumMod val="65000"/>
                                                    <a:lumOff val="3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Open Sans" panose="020B0606030504020204" pitchFamily="34" charset="0"/>
                                              </a:rPr>
                                              <m:t>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 panose="020B060603050402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The total Hamiltonian is, then,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𝑇𝑜𝑡𝑎𝑙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𝑁𝑁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𝑁𝑁𝑁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We then diagonalize the Hamiltonian and obtain the three energy bands, as a function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𝑘𝑥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𝑘𝑦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, 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. Throughout the analysis,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is set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as the unit energy.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9EEE12-F355-2A2D-4AEA-E4EBFC564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780" y="12076738"/>
                <a:ext cx="11985010" cy="12291955"/>
              </a:xfrm>
              <a:prstGeom prst="rect">
                <a:avLst/>
              </a:prstGeom>
              <a:blipFill>
                <a:blip r:embed="rId7"/>
                <a:stretch>
                  <a:fillRect l="-636" t="-310" r="-847" b="-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diagram of a curved object&#10;&#10;Description automatically generated">
            <a:extLst>
              <a:ext uri="{FF2B5EF4-FFF2-40B4-BE49-F238E27FC236}">
                <a16:creationId xmlns:a16="http://schemas.microsoft.com/office/drawing/2014/main" id="{7E248272-E0D2-82DC-8AA2-223B89D0FC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946" y="25245234"/>
            <a:ext cx="6029533" cy="57843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BB262F-30CA-36DA-2139-E4DBF79B3119}"/>
              </a:ext>
            </a:extLst>
          </p:cNvPr>
          <p:cNvSpPr txBox="1"/>
          <p:nvPr/>
        </p:nvSpPr>
        <p:spPr>
          <a:xfrm>
            <a:off x="7108030" y="31127664"/>
            <a:ext cx="6043363" cy="400110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Fig 2. Band structure of the Kagome lattice</a:t>
            </a:r>
            <a:endParaRPr lang="en-US" sz="2000" b="1" baseline="30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EE0F35-1CD5-E3E9-F1B0-E4DD58674CBE}"/>
                  </a:ext>
                </a:extLst>
              </p:cNvPr>
              <p:cNvSpPr txBox="1"/>
              <p:nvPr/>
            </p:nvSpPr>
            <p:spPr>
              <a:xfrm>
                <a:off x="31955328" y="16571861"/>
                <a:ext cx="99705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Fig 4. </a:t>
                </a:r>
                <a:r>
                  <a:rPr lang="en-US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 phase diagrams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𝜙</m:t>
                    </m:r>
                  </m:oMath>
                </a14:m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parameter space for the three bands. The z-axis indicates the </a:t>
                </a:r>
                <a:r>
                  <a:rPr lang="en-US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 of the band.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EE0F35-1CD5-E3E9-F1B0-E4DD58674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5328" y="16571861"/>
                <a:ext cx="9970523" cy="707886"/>
              </a:xfrm>
              <a:prstGeom prst="rect">
                <a:avLst/>
              </a:prstGeom>
              <a:blipFill>
                <a:blip r:embed="rId9"/>
                <a:stretch>
                  <a:fillRect t="-3509" r="-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diagram of a lattice&#10;&#10;Description automatically generated">
            <a:extLst>
              <a:ext uri="{FF2B5EF4-FFF2-40B4-BE49-F238E27FC236}">
                <a16:creationId xmlns:a16="http://schemas.microsoft.com/office/drawing/2014/main" id="{9A5CA025-A174-11DD-8E5D-D2A3929F23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3740" y="20893759"/>
            <a:ext cx="8288685" cy="456870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B228B7E-926F-C461-D189-E71194DC7D11}"/>
              </a:ext>
            </a:extLst>
          </p:cNvPr>
          <p:cNvSpPr txBox="1"/>
          <p:nvPr/>
        </p:nvSpPr>
        <p:spPr>
          <a:xfrm>
            <a:off x="30960378" y="7098477"/>
            <a:ext cx="89709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Methods (continued)</a:t>
            </a:r>
          </a:p>
        </p:txBody>
      </p:sp>
      <p:pic>
        <p:nvPicPr>
          <p:cNvPr id="10" name="Picture 9" descr="A diagram of band and band&#10;&#10;Description automatically generated with medium confidence">
            <a:extLst>
              <a:ext uri="{FF2B5EF4-FFF2-40B4-BE49-F238E27FC236}">
                <a16:creationId xmlns:a16="http://schemas.microsoft.com/office/drawing/2014/main" id="{CDAA7149-B9C6-861E-18F5-939F62612A7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4" r="3728"/>
          <a:stretch/>
        </p:blipFill>
        <p:spPr>
          <a:xfrm>
            <a:off x="30713232" y="12586142"/>
            <a:ext cx="12403917" cy="39623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2B6F3E-F7BB-6A18-1219-8EAE01E444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853" y="17610101"/>
            <a:ext cx="6521255" cy="602399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57E15A9-6316-BF35-8B52-25DDAC17D9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991" y="17610101"/>
            <a:ext cx="6521255" cy="602399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A3E9F5D-B414-549F-F169-2AE85FC264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8421" y="23826468"/>
            <a:ext cx="6521255" cy="6023992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6F7A95-C3FB-D030-BF36-09A0A01AF497}"/>
                  </a:ext>
                </a:extLst>
              </p:cNvPr>
              <p:cNvSpPr txBox="1"/>
              <p:nvPr/>
            </p:nvSpPr>
            <p:spPr>
              <a:xfrm>
                <a:off x="30960378" y="8283657"/>
                <a:ext cx="11709560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n-US" sz="24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numbers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𝜐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) refer to the topological invariant that is associated with the Quantum Hall Effect</a:t>
                </a:r>
                <a:r>
                  <a:rPr lang="en-US" sz="2400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1.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numbers can only be integers and correspond to how many quantized charges are produced at the edge of the bulk material.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Our goal is to find the regions in the parameter space where any of the three bands have a non-trivial </a:t>
                </a:r>
                <a:r>
                  <a:rPr lang="en-US" sz="2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 (i.e.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𝜐</m:t>
                    </m:r>
                    <m:r>
                      <a:rPr lang="en-US" sz="24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 panose="020B0606030504020204" pitchFamily="34" charset="0"/>
                      </a:rPr>
                      <m:t>≠0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numbers can be found by integrating the Berry curvature (equivalent to a magnetic field) over the 1</a:t>
                </a:r>
                <a:r>
                  <a:rPr lang="en-US" sz="2400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st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Brillouin Zone.</a:t>
                </a:r>
              </a:p>
              <a:p>
                <a:pPr marL="457200" indent="-4572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All three bands can have a non-trivial </a:t>
                </a:r>
                <a:r>
                  <a:rPr lang="en-US" sz="2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number and become a </a:t>
                </a:r>
                <a:r>
                  <a:rPr lang="en-US" sz="2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Chern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band. 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6F7A95-C3FB-D030-BF36-09A0A01AF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378" y="8283657"/>
                <a:ext cx="11709560" cy="4616648"/>
              </a:xfrm>
              <a:prstGeom prst="rect">
                <a:avLst/>
              </a:prstGeom>
              <a:blipFill>
                <a:blip r:embed="rId15"/>
                <a:stretch>
                  <a:fillRect l="-758" t="-1099" r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D22B570-BDED-AEC6-33F0-6C6F6267B3B2}"/>
                  </a:ext>
                </a:extLst>
              </p:cNvPr>
              <p:cNvSpPr txBox="1"/>
              <p:nvPr/>
            </p:nvSpPr>
            <p:spPr>
              <a:xfrm>
                <a:off x="14256162" y="30867027"/>
                <a:ext cx="15483164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1200"/>
                </a:defPPr>
              </a:lstStyle>
              <a:p>
                <a:pPr marL="571500" indent="-5715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Only the region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𝜙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=[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0,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𝜋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 is plotted, since Hessian is invariant under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𝜙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→2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𝜋</m:t>
                    </m:r>
                    <m:r>
                      <a:rPr lang="en-US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−</m:t>
                    </m:r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𝜙</m:t>
                    </m:r>
                  </m:oMath>
                </a14:m>
                <a:r>
                  <a:rPr lang="en-US" sz="2400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4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571500" indent="-57150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As seen from Fig. 3, all three bands are able to host HOVHS at all high-symmetry points.</a:t>
                </a: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D22B570-BDED-AEC6-33F0-6C6F6267B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6162" y="30867027"/>
                <a:ext cx="15483164" cy="907941"/>
              </a:xfrm>
              <a:prstGeom prst="rect">
                <a:avLst/>
              </a:prstGeom>
              <a:blipFill>
                <a:blip r:embed="rId16"/>
                <a:stretch>
                  <a:fillRect l="-492" t="-5556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12335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assessingslat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Arial"/>
        <a:cs typeface="Arial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19429</TotalTime>
  <Words>1009</Words>
  <Application>Microsoft Macintosh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Cambria Math</vt:lpstr>
      <vt:lpstr>Calibri</vt:lpstr>
      <vt:lpstr>Montserrat Extra Bold</vt:lpstr>
      <vt:lpstr>Domine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We offer free powerpoint poster templates to help you design your very own scientific poster presentation.</dc:description>
  <cp:lastModifiedBy>Wang, Edrick</cp:lastModifiedBy>
  <cp:revision>41</cp:revision>
  <dcterms:modified xsi:type="dcterms:W3CDTF">2024-02-28T05:18:02Z</dcterms:modified>
  <cp:category>science research poster</cp:category>
</cp:coreProperties>
</file>